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Implementation — Craftsman. Code Quality Assistant package: auto unit test generation (Java/Angular) and technical debt detection, IDE independent, used by 15+ applications. Key achievements: MCP Playwright implemented for FA Space with guidance for FOX &amp; TPA; FA Hackathon success beating RooCode; presented to 2S IT ExCo with Nicolas Bourgeois requesting rollout across 2SIT.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91440" cy="786384"/>
          </a:xfrm>
          <a:prstGeom prst="roundRect">
            <a:avLst>
              <a:gd name="adj" fmla="val 50000"/>
            </a:avLst>
          </a:prstGeom>
          <a:solidFill>
            <a:srgbClr val="159A4F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IMPLEMENTATION </a:t>
            </a:r>
            <a:pPr algn="l" indent="0" marL="0">
              <a:buNone/>
            </a:pPr>
            <a:r>
              <a:rPr lang="en-US" sz="2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CRAFTSMAN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Assistant Package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1133856"/>
            <a:ext cx="1051560" cy="41148"/>
          </a:xfrm>
          <a:prstGeom prst="roundRect">
            <a:avLst>
              <a:gd name="adj" fmla="val 44444"/>
            </a:avLst>
          </a:prstGeom>
          <a:solidFill>
            <a:srgbClr val="159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37744"/>
            <a:ext cx="3108960" cy="9601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" y="1335024"/>
            <a:ext cx="55321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4EBE6"/>
            </a:solidFill>
            <a:prstDash val="solid"/>
          </a:ln>
          <a:effectLst>
            <a:outerShdw sx="100000" sy="100000" kx="0" ky="0" algn="bl" rotWithShape="0" blurRad="88900" dist="25400" dir="5400000">
              <a:srgbClr val="C9D6CE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517904"/>
            <a:ext cx="548640" cy="54864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824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153619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PACKAGE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316736" y="2011680"/>
            <a:ext cx="868680" cy="36576"/>
          </a:xfrm>
          <a:prstGeom prst="roundRect">
            <a:avLst>
              <a:gd name="adj" fmla="val 50000"/>
            </a:avLst>
          </a:prstGeom>
          <a:solidFill>
            <a:srgbClr val="159A4F"/>
          </a:solidFill>
          <a:ln/>
        </p:spPr>
      </p:sp>
      <p:sp>
        <p:nvSpPr>
          <p:cNvPr id="12" name="Text 8"/>
          <p:cNvSpPr/>
          <p:nvPr/>
        </p:nvSpPr>
        <p:spPr>
          <a:xfrm>
            <a:off x="658368" y="2176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assists developers to generate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unit test cases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their application code (Java / Angular) and to identify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Debts.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is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independent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is shared across domains to improve the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Gate.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using it — and some teams have added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their requirement.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84048" y="3200400"/>
            <a:ext cx="5532120" cy="2048256"/>
          </a:xfrm>
          <a:prstGeom prst="roundRect">
            <a:avLst>
              <a:gd name="adj" fmla="val 4464"/>
            </a:avLst>
          </a:prstGeom>
          <a:solidFill>
            <a:srgbClr val="F4F8F5"/>
          </a:solidFill>
          <a:ln w="12700">
            <a:solidFill>
              <a:srgbClr val="E4EB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3504" y="3310128"/>
            <a:ext cx="457200" cy="45720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44728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USING THIS PACKAGE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1225296" y="3712464"/>
            <a:ext cx="868680" cy="36576"/>
          </a:xfrm>
          <a:prstGeom prst="roundRect">
            <a:avLst>
              <a:gd name="adj" fmla="val 50000"/>
            </a:avLst>
          </a:prstGeom>
          <a:solidFill>
            <a:srgbClr val="159A4F"/>
          </a:solidFill>
          <a:ln/>
        </p:spPr>
      </p:sp>
      <p:sp>
        <p:nvSpPr>
          <p:cNvPr id="18" name="Shape 13"/>
          <p:cNvSpPr/>
          <p:nvPr/>
        </p:nvSpPr>
        <p:spPr>
          <a:xfrm>
            <a:off x="548640" y="387705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2648" y="3931920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86784"/>
            <a:ext cx="109728" cy="1097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" y="387705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1879092" y="387705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943100" y="3931920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964" y="3986784"/>
            <a:ext cx="109728" cy="10972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08276" y="387705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209544" y="387705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273552" y="3931920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3986784"/>
            <a:ext cx="109728" cy="10972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38728" y="387705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539996" y="387705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604004" y="3931920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868" y="3986784"/>
            <a:ext cx="109728" cy="10972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69180" y="387705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548640" y="4224528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12648" y="4279392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" y="4334256"/>
            <a:ext cx="109728" cy="10972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77824" y="42245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Space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1879092" y="4224528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1943100" y="4279392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7964" y="4334256"/>
            <a:ext cx="109728" cy="10972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208276" y="42245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3209544" y="4224528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3273552" y="4279392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416" y="4334256"/>
            <a:ext cx="109728" cy="10972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3538728" y="42245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STARR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4539996" y="4224528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4604004" y="4279392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8868" y="4334256"/>
            <a:ext cx="109728" cy="10972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4869180" y="42245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548640" y="4572000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612648" y="4626864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" y="4681728"/>
            <a:ext cx="109728" cy="10972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877824" y="45720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1879092" y="4572000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1943100" y="4626864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7964" y="4681728"/>
            <a:ext cx="109728" cy="109728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2208276" y="45720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3209544" y="4572000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3273552" y="4626864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8416" y="4681728"/>
            <a:ext cx="109728" cy="109728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3538728" y="45720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IRP (ICE/IPO)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4539996" y="4572000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4604004" y="4626864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58868" y="4681728"/>
            <a:ext cx="109728" cy="109728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4869180" y="45720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AceTP</a:t>
            </a:r>
            <a:endParaRPr lang="en-US" sz="900" dirty="0"/>
          </a:p>
        </p:txBody>
      </p:sp>
      <p:sp>
        <p:nvSpPr>
          <p:cNvPr id="66" name="Shape 49"/>
          <p:cNvSpPr/>
          <p:nvPr/>
        </p:nvSpPr>
        <p:spPr>
          <a:xfrm>
            <a:off x="548640" y="4919472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67" name="Shape 50"/>
          <p:cNvSpPr/>
          <p:nvPr/>
        </p:nvSpPr>
        <p:spPr>
          <a:xfrm>
            <a:off x="612648" y="4974336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512" y="5029200"/>
            <a:ext cx="109728" cy="109728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877824" y="49194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</a:t>
            </a:r>
            <a:endParaRPr lang="en-US" sz="900" dirty="0"/>
          </a:p>
        </p:txBody>
      </p:sp>
      <p:sp>
        <p:nvSpPr>
          <p:cNvPr id="70" name="Shape 52"/>
          <p:cNvSpPr/>
          <p:nvPr/>
        </p:nvSpPr>
        <p:spPr>
          <a:xfrm>
            <a:off x="1879092" y="4919472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1943100" y="4974336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97964" y="5029200"/>
            <a:ext cx="109728" cy="109728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2208276" y="49194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</a:t>
            </a:r>
            <a:endParaRPr lang="en-US" sz="900" dirty="0"/>
          </a:p>
        </p:txBody>
      </p:sp>
      <p:sp>
        <p:nvSpPr>
          <p:cNvPr id="74" name="Shape 55"/>
          <p:cNvSpPr/>
          <p:nvPr/>
        </p:nvSpPr>
        <p:spPr>
          <a:xfrm>
            <a:off x="3209544" y="4919472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4EBE6"/>
            </a:solidFill>
            <a:prstDash val="solid"/>
          </a:ln>
        </p:spPr>
      </p:sp>
      <p:sp>
        <p:nvSpPr>
          <p:cNvPr id="75" name="Shape 56"/>
          <p:cNvSpPr/>
          <p:nvPr/>
        </p:nvSpPr>
        <p:spPr>
          <a:xfrm>
            <a:off x="3273552" y="4974336"/>
            <a:ext cx="219456" cy="219456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28416" y="5029200"/>
            <a:ext cx="109728" cy="109728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3538728" y="49194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Scarlet</a:t>
            </a:r>
            <a:endParaRPr lang="en-US" sz="900" dirty="0"/>
          </a:p>
        </p:txBody>
      </p:sp>
      <p:sp>
        <p:nvSpPr>
          <p:cNvPr id="78" name="Shape 58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7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8232" y="153619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6967728" y="138988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81" name="Shape 60"/>
          <p:cNvSpPr/>
          <p:nvPr/>
        </p:nvSpPr>
        <p:spPr>
          <a:xfrm>
            <a:off x="6986016" y="1865376"/>
            <a:ext cx="868680" cy="36576"/>
          </a:xfrm>
          <a:prstGeom prst="roundRect">
            <a:avLst>
              <a:gd name="adj" fmla="val 50000"/>
            </a:avLst>
          </a:prstGeom>
          <a:solidFill>
            <a:srgbClr val="159A4F"/>
          </a:solidFill>
          <a:ln/>
        </p:spPr>
      </p:sp>
      <p:sp>
        <p:nvSpPr>
          <p:cNvPr id="82" name="Shape 61"/>
          <p:cNvSpPr/>
          <p:nvPr/>
        </p:nvSpPr>
        <p:spPr>
          <a:xfrm>
            <a:off x="6556248" y="2167128"/>
            <a:ext cx="0" cy="2825496"/>
          </a:xfrm>
          <a:prstGeom prst="line">
            <a:avLst/>
          </a:prstGeom>
          <a:noFill/>
          <a:ln w="15875">
            <a:solidFill>
              <a:srgbClr val="159A4F"/>
            </a:solidFill>
            <a:prstDash val="dash"/>
          </a:ln>
        </p:spPr>
      </p:sp>
      <p:sp>
        <p:nvSpPr>
          <p:cNvPr id="83" name="Shape 62"/>
          <p:cNvSpPr/>
          <p:nvPr/>
        </p:nvSpPr>
        <p:spPr>
          <a:xfrm>
            <a:off x="6903720" y="2029968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84" name="Shape 63"/>
          <p:cNvSpPr/>
          <p:nvPr/>
        </p:nvSpPr>
        <p:spPr>
          <a:xfrm>
            <a:off x="11365992" y="20299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8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78646" y="2142622"/>
            <a:ext cx="177028" cy="177028"/>
          </a:xfrm>
          <a:prstGeom prst="rect">
            <a:avLst/>
          </a:prstGeom>
        </p:spPr>
      </p:pic>
      <p:sp>
        <p:nvSpPr>
          <p:cNvPr id="86" name="Text 64"/>
          <p:cNvSpPr/>
          <p:nvPr/>
        </p:nvSpPr>
        <p:spPr>
          <a:xfrm>
            <a:off x="7104888" y="2029968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Playwright</a:t>
            </a:r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successfully implemented for </a:t>
            </a:r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Space</a:t>
            </a:r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application.</a:t>
            </a:r>
            <a:endParaRPr lang="en-US" sz="950" dirty="0"/>
          </a:p>
        </p:txBody>
      </p:sp>
      <p:sp>
        <p:nvSpPr>
          <p:cNvPr id="87" name="Shape 65"/>
          <p:cNvSpPr/>
          <p:nvPr/>
        </p:nvSpPr>
        <p:spPr>
          <a:xfrm>
            <a:off x="6419088" y="2093976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8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5898" y="2176272"/>
            <a:ext cx="120701" cy="109728"/>
          </a:xfrm>
          <a:prstGeom prst="rect">
            <a:avLst/>
          </a:prstGeom>
        </p:spPr>
      </p:pic>
      <p:sp>
        <p:nvSpPr>
          <p:cNvPr id="89" name="Shape 66"/>
          <p:cNvSpPr/>
          <p:nvPr/>
        </p:nvSpPr>
        <p:spPr>
          <a:xfrm>
            <a:off x="6903720" y="2500884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90" name="Shape 67"/>
          <p:cNvSpPr/>
          <p:nvPr/>
        </p:nvSpPr>
        <p:spPr>
          <a:xfrm>
            <a:off x="11365992" y="250088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9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78646" y="2613538"/>
            <a:ext cx="177028" cy="177028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7104888" y="2500884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provided to use Playwright MCP for </a:t>
            </a:r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&amp; TPA.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6419088" y="2564892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5898" y="2647188"/>
            <a:ext cx="120701" cy="109728"/>
          </a:xfrm>
          <a:prstGeom prst="rect">
            <a:avLst/>
          </a:prstGeom>
        </p:spPr>
      </p:pic>
      <p:sp>
        <p:nvSpPr>
          <p:cNvPr id="95" name="Shape 70"/>
          <p:cNvSpPr/>
          <p:nvPr/>
        </p:nvSpPr>
        <p:spPr>
          <a:xfrm>
            <a:off x="6903720" y="2971800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96" name="Shape 71"/>
          <p:cNvSpPr/>
          <p:nvPr/>
        </p:nvSpPr>
        <p:spPr>
          <a:xfrm>
            <a:off x="11365992" y="297180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478646" y="3084454"/>
            <a:ext cx="177028" cy="177028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7104888" y="2971800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FA Hackathon, Playwright MCP was successfully implemented and tested for a use case.</a:t>
            </a:r>
            <a:endParaRPr lang="en-US" sz="950" dirty="0"/>
          </a:p>
        </p:txBody>
      </p:sp>
      <p:sp>
        <p:nvSpPr>
          <p:cNvPr id="99" name="Shape 73"/>
          <p:cNvSpPr/>
          <p:nvPr/>
        </p:nvSpPr>
        <p:spPr>
          <a:xfrm>
            <a:off x="6419088" y="3035808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95898" y="3118104"/>
            <a:ext cx="120701" cy="109728"/>
          </a:xfrm>
          <a:prstGeom prst="rect">
            <a:avLst/>
          </a:prstGeom>
        </p:spPr>
      </p:pic>
      <p:sp>
        <p:nvSpPr>
          <p:cNvPr id="101" name="Shape 74"/>
          <p:cNvSpPr/>
          <p:nvPr/>
        </p:nvSpPr>
        <p:spPr>
          <a:xfrm>
            <a:off x="6903720" y="3442716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102" name="Shape 75"/>
          <p:cNvSpPr/>
          <p:nvPr/>
        </p:nvSpPr>
        <p:spPr>
          <a:xfrm>
            <a:off x="11365992" y="344271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10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78646" y="3555370"/>
            <a:ext cx="177028" cy="177028"/>
          </a:xfrm>
          <a:prstGeom prst="rect">
            <a:avLst/>
          </a:prstGeom>
        </p:spPr>
      </p:pic>
      <p:sp>
        <p:nvSpPr>
          <p:cNvPr id="104" name="Text 76"/>
          <p:cNvSpPr/>
          <p:nvPr/>
        </p:nvSpPr>
        <p:spPr>
          <a:xfrm>
            <a:off x="7104888" y="3442716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FA Hackathon our package was used for one of their use cases, successfully.</a:t>
            </a:r>
            <a:endParaRPr lang="en-US" sz="950" dirty="0"/>
          </a:p>
        </p:txBody>
      </p:sp>
      <p:sp>
        <p:nvSpPr>
          <p:cNvPr id="105" name="Shape 77"/>
          <p:cNvSpPr/>
          <p:nvPr/>
        </p:nvSpPr>
        <p:spPr>
          <a:xfrm>
            <a:off x="6419088" y="3506724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95898" y="3589020"/>
            <a:ext cx="120701" cy="109728"/>
          </a:xfrm>
          <a:prstGeom prst="rect">
            <a:avLst/>
          </a:prstGeom>
        </p:spPr>
      </p:pic>
      <p:sp>
        <p:nvSpPr>
          <p:cNvPr id="107" name="Shape 78"/>
          <p:cNvSpPr/>
          <p:nvPr/>
        </p:nvSpPr>
        <p:spPr>
          <a:xfrm>
            <a:off x="6903720" y="3913632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108" name="Shape 79"/>
          <p:cNvSpPr/>
          <p:nvPr/>
        </p:nvSpPr>
        <p:spPr>
          <a:xfrm>
            <a:off x="11365992" y="391363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10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478646" y="4026286"/>
            <a:ext cx="177028" cy="177028"/>
          </a:xfrm>
          <a:prstGeom prst="rect">
            <a:avLst/>
          </a:prstGeom>
        </p:spPr>
      </p:pic>
      <p:sp>
        <p:nvSpPr>
          <p:cNvPr id="110" name="Text 80"/>
          <p:cNvSpPr/>
          <p:nvPr/>
        </p:nvSpPr>
        <p:spPr>
          <a:xfrm>
            <a:off x="7104888" y="3913632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a reward — our package's generated unit test cases are far better than RooCode.</a:t>
            </a:r>
            <a:endParaRPr lang="en-US" sz="950" dirty="0"/>
          </a:p>
        </p:txBody>
      </p:sp>
      <p:sp>
        <p:nvSpPr>
          <p:cNvPr id="111" name="Shape 81"/>
          <p:cNvSpPr/>
          <p:nvPr/>
        </p:nvSpPr>
        <p:spPr>
          <a:xfrm>
            <a:off x="6419088" y="3977640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1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95898" y="4059936"/>
            <a:ext cx="120701" cy="109728"/>
          </a:xfrm>
          <a:prstGeom prst="rect">
            <a:avLst/>
          </a:prstGeom>
        </p:spPr>
      </p:pic>
      <p:sp>
        <p:nvSpPr>
          <p:cNvPr id="113" name="Shape 82"/>
          <p:cNvSpPr/>
          <p:nvPr/>
        </p:nvSpPr>
        <p:spPr>
          <a:xfrm>
            <a:off x="6903720" y="4384548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114" name="Shape 83"/>
          <p:cNvSpPr/>
          <p:nvPr/>
        </p:nvSpPr>
        <p:spPr>
          <a:xfrm>
            <a:off x="11365992" y="438454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11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78646" y="4497202"/>
            <a:ext cx="177028" cy="177028"/>
          </a:xfrm>
          <a:prstGeom prst="rect">
            <a:avLst/>
          </a:prstGeom>
        </p:spPr>
      </p:pic>
      <p:sp>
        <p:nvSpPr>
          <p:cNvPr id="116" name="Text 84"/>
          <p:cNvSpPr/>
          <p:nvPr/>
        </p:nvSpPr>
        <p:spPr>
          <a:xfrm>
            <a:off x="7104888" y="4384548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the chance to present our use case to the members of </a:t>
            </a:r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IT ExCo.</a:t>
            </a:r>
            <a:endParaRPr lang="en-US" sz="950" dirty="0"/>
          </a:p>
        </p:txBody>
      </p:sp>
      <p:sp>
        <p:nvSpPr>
          <p:cNvPr id="117" name="Shape 85"/>
          <p:cNvSpPr/>
          <p:nvPr/>
        </p:nvSpPr>
        <p:spPr>
          <a:xfrm>
            <a:off x="6419088" y="4448556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1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95898" y="4530852"/>
            <a:ext cx="120701" cy="109728"/>
          </a:xfrm>
          <a:prstGeom prst="rect">
            <a:avLst/>
          </a:prstGeom>
        </p:spPr>
      </p:pic>
      <p:sp>
        <p:nvSpPr>
          <p:cNvPr id="119" name="Shape 86"/>
          <p:cNvSpPr/>
          <p:nvPr/>
        </p:nvSpPr>
        <p:spPr>
          <a:xfrm>
            <a:off x="6903720" y="4855464"/>
            <a:ext cx="4937760" cy="402336"/>
          </a:xfrm>
          <a:prstGeom prst="roundRect">
            <a:avLst>
              <a:gd name="adj" fmla="val 15909"/>
            </a:avLst>
          </a:prstGeom>
          <a:solidFill>
            <a:srgbClr val="F3F5F4"/>
          </a:solidFill>
          <a:ln/>
        </p:spPr>
      </p:sp>
      <p:sp>
        <p:nvSpPr>
          <p:cNvPr id="120" name="Shape 87"/>
          <p:cNvSpPr/>
          <p:nvPr/>
        </p:nvSpPr>
        <p:spPr>
          <a:xfrm>
            <a:off x="11365992" y="485546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7F4EC"/>
          </a:solidFill>
          <a:ln/>
        </p:spPr>
      </p:sp>
      <p:pic>
        <p:nvPicPr>
          <p:cNvPr id="12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478646" y="4968118"/>
            <a:ext cx="177028" cy="177028"/>
          </a:xfrm>
          <a:prstGeom prst="rect">
            <a:avLst/>
          </a:prstGeom>
        </p:spPr>
      </p:pic>
      <p:sp>
        <p:nvSpPr>
          <p:cNvPr id="122" name="Text 88"/>
          <p:cNvSpPr/>
          <p:nvPr/>
        </p:nvSpPr>
        <p:spPr>
          <a:xfrm>
            <a:off x="7104888" y="4855464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F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BOURGEOIS Nicolas (ExCo) appreciated our demo and asked to roll out a program across 2SIT.</a:t>
            </a:r>
            <a:endParaRPr lang="en-US" sz="950" dirty="0"/>
          </a:p>
        </p:txBody>
      </p:sp>
      <p:sp>
        <p:nvSpPr>
          <p:cNvPr id="123" name="Shape 89"/>
          <p:cNvSpPr/>
          <p:nvPr/>
        </p:nvSpPr>
        <p:spPr>
          <a:xfrm>
            <a:off x="6419088" y="4919472"/>
            <a:ext cx="274320" cy="274320"/>
          </a:xfrm>
          <a:prstGeom prst="ellipse">
            <a:avLst/>
          </a:prstGeom>
          <a:solidFill>
            <a:srgbClr val="159A4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95898" y="5001768"/>
            <a:ext cx="120701" cy="109728"/>
          </a:xfrm>
          <a:prstGeom prst="rect">
            <a:avLst/>
          </a:prstGeom>
        </p:spPr>
      </p:pic>
      <p:sp>
        <p:nvSpPr>
          <p:cNvPr id="125" name="Shape 90"/>
          <p:cNvSpPr/>
          <p:nvPr/>
        </p:nvSpPr>
        <p:spPr>
          <a:xfrm>
            <a:off x="384048" y="5394960"/>
            <a:ext cx="11430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4EBE6"/>
            </a:solidFill>
            <a:prstDash val="solid"/>
          </a:ln>
          <a:effectLst>
            <a:outerShdw sx="100000" sy="100000" kx="0" ky="0" algn="bl" rotWithShape="0" blurRad="76200" dist="25400" dir="5400000">
              <a:srgbClr val="C9D6CE">
                <a:alpha val="30000"/>
              </a:srgbClr>
            </a:outerShdw>
          </a:effectLst>
        </p:spPr>
      </p:sp>
      <p:sp>
        <p:nvSpPr>
          <p:cNvPr id="126" name="Shape 91"/>
          <p:cNvSpPr/>
          <p:nvPr/>
        </p:nvSpPr>
        <p:spPr>
          <a:xfrm>
            <a:off x="585216" y="5550408"/>
            <a:ext cx="548640" cy="54864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127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9808" y="5715000"/>
            <a:ext cx="219456" cy="219456"/>
          </a:xfrm>
          <a:prstGeom prst="rect">
            <a:avLst/>
          </a:prstGeom>
        </p:spPr>
      </p:pic>
      <p:sp>
        <p:nvSpPr>
          <p:cNvPr id="128" name="Text 92"/>
          <p:cNvSpPr/>
          <p:nvPr/>
        </p:nvSpPr>
        <p:spPr>
          <a:xfrm>
            <a:off x="1252728" y="5486400"/>
            <a:ext cx="18973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6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package</a:t>
            </a:r>
            <a:endParaRPr lang="en-US" sz="1500" dirty="0"/>
          </a:p>
        </p:txBody>
      </p:sp>
      <p:sp>
        <p:nvSpPr>
          <p:cNvPr id="129" name="Shape 93"/>
          <p:cNvSpPr/>
          <p:nvPr/>
        </p:nvSpPr>
        <p:spPr>
          <a:xfrm>
            <a:off x="3241548" y="5541264"/>
            <a:ext cx="0" cy="566928"/>
          </a:xfrm>
          <a:prstGeom prst="line">
            <a:avLst/>
          </a:prstGeom>
          <a:noFill/>
          <a:ln w="12700">
            <a:solidFill>
              <a:srgbClr val="E4EBE6"/>
            </a:solidFill>
            <a:prstDash val="solid"/>
          </a:ln>
        </p:spPr>
      </p:sp>
      <p:sp>
        <p:nvSpPr>
          <p:cNvPr id="130" name="Shape 94"/>
          <p:cNvSpPr/>
          <p:nvPr/>
        </p:nvSpPr>
        <p:spPr>
          <a:xfrm>
            <a:off x="3442716" y="5550408"/>
            <a:ext cx="548640" cy="54864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131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607308" y="5715000"/>
            <a:ext cx="219456" cy="219456"/>
          </a:xfrm>
          <a:prstGeom prst="rect">
            <a:avLst/>
          </a:prstGeom>
        </p:spPr>
      </p:pic>
      <p:sp>
        <p:nvSpPr>
          <p:cNvPr id="132" name="Text 95"/>
          <p:cNvSpPr/>
          <p:nvPr/>
        </p:nvSpPr>
        <p:spPr>
          <a:xfrm>
            <a:off x="4110228" y="5486400"/>
            <a:ext cx="18973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Powered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Unit Test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6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(Java / Angular)</a:t>
            </a:r>
            <a:endParaRPr lang="en-US" sz="1500" dirty="0"/>
          </a:p>
        </p:txBody>
      </p:sp>
      <p:sp>
        <p:nvSpPr>
          <p:cNvPr id="133" name="Shape 96"/>
          <p:cNvSpPr/>
          <p:nvPr/>
        </p:nvSpPr>
        <p:spPr>
          <a:xfrm>
            <a:off x="6099048" y="5541264"/>
            <a:ext cx="0" cy="566928"/>
          </a:xfrm>
          <a:prstGeom prst="line">
            <a:avLst/>
          </a:prstGeom>
          <a:noFill/>
          <a:ln w="12700">
            <a:solidFill>
              <a:srgbClr val="E4EBE6"/>
            </a:solidFill>
            <a:prstDash val="solid"/>
          </a:ln>
        </p:spPr>
      </p:sp>
      <p:sp>
        <p:nvSpPr>
          <p:cNvPr id="134" name="Shape 97"/>
          <p:cNvSpPr/>
          <p:nvPr/>
        </p:nvSpPr>
        <p:spPr>
          <a:xfrm>
            <a:off x="6300216" y="5550408"/>
            <a:ext cx="548640" cy="54864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135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64808" y="5715000"/>
            <a:ext cx="219456" cy="219456"/>
          </a:xfrm>
          <a:prstGeom prst="rect">
            <a:avLst/>
          </a:prstGeom>
        </p:spPr>
      </p:pic>
      <p:sp>
        <p:nvSpPr>
          <p:cNvPr id="136" name="Text 98"/>
          <p:cNvSpPr/>
          <p:nvPr/>
        </p:nvSpPr>
        <p:spPr>
          <a:xfrm>
            <a:off x="6967728" y="5486400"/>
            <a:ext cx="18973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MCP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Implemented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6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Key Applications</a:t>
            </a:r>
            <a:endParaRPr lang="en-US" sz="1500" dirty="0"/>
          </a:p>
        </p:txBody>
      </p:sp>
      <p:sp>
        <p:nvSpPr>
          <p:cNvPr id="137" name="Shape 99"/>
          <p:cNvSpPr/>
          <p:nvPr/>
        </p:nvSpPr>
        <p:spPr>
          <a:xfrm>
            <a:off x="8956548" y="5541264"/>
            <a:ext cx="0" cy="566928"/>
          </a:xfrm>
          <a:prstGeom prst="line">
            <a:avLst/>
          </a:prstGeom>
          <a:noFill/>
          <a:ln w="12700">
            <a:solidFill>
              <a:srgbClr val="E4EBE6"/>
            </a:solidFill>
            <a:prstDash val="solid"/>
          </a:ln>
        </p:spPr>
      </p:sp>
      <p:sp>
        <p:nvSpPr>
          <p:cNvPr id="138" name="Shape 100"/>
          <p:cNvSpPr/>
          <p:nvPr/>
        </p:nvSpPr>
        <p:spPr>
          <a:xfrm>
            <a:off x="9157716" y="5550408"/>
            <a:ext cx="548640" cy="548640"/>
          </a:xfrm>
          <a:prstGeom prst="ellipse">
            <a:avLst/>
          </a:prstGeom>
          <a:solidFill>
            <a:srgbClr val="159A4F"/>
          </a:solidFill>
          <a:ln/>
        </p:spPr>
      </p:sp>
      <p:pic>
        <p:nvPicPr>
          <p:cNvPr id="13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322308" y="5715000"/>
            <a:ext cx="219456" cy="219456"/>
          </a:xfrm>
          <a:prstGeom prst="rect">
            <a:avLst/>
          </a:prstGeom>
        </p:spPr>
      </p:pic>
      <p:sp>
        <p:nvSpPr>
          <p:cNvPr id="140" name="Text 101"/>
          <p:cNvSpPr/>
          <p:nvPr/>
        </p:nvSpPr>
        <p:spPr>
          <a:xfrm>
            <a:off x="9825228" y="5486400"/>
            <a:ext cx="18973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6A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ExCo Recognition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Appreciated &amp; Recommended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6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across 2S IT</a:t>
            </a:r>
            <a:endParaRPr lang="en-US" sz="1500" dirty="0"/>
          </a:p>
        </p:txBody>
      </p:sp>
      <p:sp>
        <p:nvSpPr>
          <p:cNvPr id="141" name="Shape 102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159A4F"/>
          </a:solidFill>
          <a:ln/>
        </p:spPr>
      </p:sp>
      <p:pic>
        <p:nvPicPr>
          <p:cNvPr id="142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84048" y="6464808"/>
            <a:ext cx="310896" cy="310896"/>
          </a:xfrm>
          <a:prstGeom prst="rect">
            <a:avLst/>
          </a:prstGeom>
        </p:spPr>
      </p:pic>
      <p:sp>
        <p:nvSpPr>
          <p:cNvPr id="143" name="Text 103"/>
          <p:cNvSpPr/>
          <p:nvPr/>
        </p:nvSpPr>
        <p:spPr>
          <a:xfrm>
            <a:off x="768096" y="63825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500" dirty="0"/>
          </a:p>
        </p:txBody>
      </p:sp>
      <p:sp>
        <p:nvSpPr>
          <p:cNvPr id="144" name="Text 104"/>
          <p:cNvSpPr/>
          <p:nvPr/>
        </p:nvSpPr>
        <p:spPr>
          <a:xfrm>
            <a:off x="2651760" y="63825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F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for a changing world</a:t>
            </a:r>
            <a:endParaRPr lang="en-US" sz="1250" dirty="0"/>
          </a:p>
        </p:txBody>
      </p:sp>
      <p:sp>
        <p:nvSpPr>
          <p:cNvPr id="145" name="Shape 105"/>
          <p:cNvSpPr/>
          <p:nvPr/>
        </p:nvSpPr>
        <p:spPr>
          <a:xfrm>
            <a:off x="10515600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46" name="Shape 106"/>
          <p:cNvSpPr/>
          <p:nvPr/>
        </p:nvSpPr>
        <p:spPr>
          <a:xfrm>
            <a:off x="10661904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47" name="Shape 107"/>
          <p:cNvSpPr/>
          <p:nvPr/>
        </p:nvSpPr>
        <p:spPr>
          <a:xfrm>
            <a:off x="10808208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48" name="Shape 108"/>
          <p:cNvSpPr/>
          <p:nvPr/>
        </p:nvSpPr>
        <p:spPr>
          <a:xfrm>
            <a:off x="10954512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49" name="Shape 109"/>
          <p:cNvSpPr/>
          <p:nvPr/>
        </p:nvSpPr>
        <p:spPr>
          <a:xfrm>
            <a:off x="11100816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0" name="Shape 110"/>
          <p:cNvSpPr/>
          <p:nvPr/>
        </p:nvSpPr>
        <p:spPr>
          <a:xfrm>
            <a:off x="11247120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1" name="Shape 111"/>
          <p:cNvSpPr/>
          <p:nvPr/>
        </p:nvSpPr>
        <p:spPr>
          <a:xfrm>
            <a:off x="11393424" y="6492240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2" name="Shape 112"/>
          <p:cNvSpPr/>
          <p:nvPr/>
        </p:nvSpPr>
        <p:spPr>
          <a:xfrm>
            <a:off x="10515600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3" name="Shape 113"/>
          <p:cNvSpPr/>
          <p:nvPr/>
        </p:nvSpPr>
        <p:spPr>
          <a:xfrm>
            <a:off x="10661904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4" name="Shape 114"/>
          <p:cNvSpPr/>
          <p:nvPr/>
        </p:nvSpPr>
        <p:spPr>
          <a:xfrm>
            <a:off x="10808208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5" name="Shape 115"/>
          <p:cNvSpPr/>
          <p:nvPr/>
        </p:nvSpPr>
        <p:spPr>
          <a:xfrm>
            <a:off x="10954512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6" name="Shape 116"/>
          <p:cNvSpPr/>
          <p:nvPr/>
        </p:nvSpPr>
        <p:spPr>
          <a:xfrm>
            <a:off x="11100816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7" name="Shape 117"/>
          <p:cNvSpPr/>
          <p:nvPr/>
        </p:nvSpPr>
        <p:spPr>
          <a:xfrm>
            <a:off x="11247120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8" name="Shape 118"/>
          <p:cNvSpPr/>
          <p:nvPr/>
        </p:nvSpPr>
        <p:spPr>
          <a:xfrm>
            <a:off x="11393424" y="6592824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59" name="Shape 119"/>
          <p:cNvSpPr/>
          <p:nvPr/>
        </p:nvSpPr>
        <p:spPr>
          <a:xfrm>
            <a:off x="10515600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60" name="Shape 120"/>
          <p:cNvSpPr/>
          <p:nvPr/>
        </p:nvSpPr>
        <p:spPr>
          <a:xfrm>
            <a:off x="10661904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61" name="Shape 121"/>
          <p:cNvSpPr/>
          <p:nvPr/>
        </p:nvSpPr>
        <p:spPr>
          <a:xfrm>
            <a:off x="10808208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62" name="Shape 122"/>
          <p:cNvSpPr/>
          <p:nvPr/>
        </p:nvSpPr>
        <p:spPr>
          <a:xfrm>
            <a:off x="10954512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63" name="Shape 123"/>
          <p:cNvSpPr/>
          <p:nvPr/>
        </p:nvSpPr>
        <p:spPr>
          <a:xfrm>
            <a:off x="11100816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64" name="Shape 124"/>
          <p:cNvSpPr/>
          <p:nvPr/>
        </p:nvSpPr>
        <p:spPr>
          <a:xfrm>
            <a:off x="11247120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  <p:sp>
        <p:nvSpPr>
          <p:cNvPr id="165" name="Shape 125"/>
          <p:cNvSpPr/>
          <p:nvPr/>
        </p:nvSpPr>
        <p:spPr>
          <a:xfrm>
            <a:off x="11393424" y="6693408"/>
            <a:ext cx="41148" cy="41148"/>
          </a:xfrm>
          <a:prstGeom prst="ellipse">
            <a:avLst/>
          </a:prstGeom>
          <a:solidFill>
            <a:srgbClr val="BFE8C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2026-07-10T05:56:36Z</dcterms:created>
  <dcterms:modified xsi:type="dcterms:W3CDTF">2026-07-10T05:56:36Z</dcterms:modified>
</cp:coreProperties>
</file>